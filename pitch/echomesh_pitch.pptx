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98848"/>
            <a:ext cx="9144000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371600"/>
            <a:ext cx="64008" cy="192024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53312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spc="7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ECHOMESH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Acoustic Intelligence for Autonomous Drone Swarms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29992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 ·  Localize  ·  Dominate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736592"/>
            <a:ext cx="5029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DefenceHack  ·  Kova Labs Challenge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473659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· Mesh · Application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8229600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 can fly autonomously.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can they hear the battlefield?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UAV may detect an acoustic signature — a gunshot, a missile launch, a tank — but it cannot locate the source alone. You need cross-referencing. You need a mesh.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663440" y="960120"/>
            <a:ext cx="4023360" cy="118872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63440" y="960120"/>
            <a:ext cx="54864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10515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 localization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00600" y="1362456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sensor detects events but cannot pinpoint origin — triangulation requires multiple synchronized receivers.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2313432"/>
            <a:ext cx="4023360" cy="118872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2313432"/>
            <a:ext cx="54864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4048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 timing matters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2715768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TDOA accuracy depends on sub-millisecond clock sync across drones. Off-the-shelf comms fail here.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666744"/>
            <a:ext cx="4023360" cy="1188720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3666744"/>
            <a:ext cx="54864" cy="1188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37581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Contested RF environments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4069080"/>
            <a:ext cx="3749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Jamming and spoofing degrade command links. The mesh must survive partial node loss autonomously.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tactical acoustic intelligence system — built across all three challenge layers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325880"/>
            <a:ext cx="2743200" cy="3429000"/>
          </a:xfrm>
          <a:prstGeom prst="rect">
            <a:avLst/>
          </a:prstGeom>
          <a:solidFill>
            <a:srgbClr val="0E2040"/>
          </a:solidFill>
          <a:ln w="19050">
            <a:solidFill>
              <a:srgbClr val="7FA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325880"/>
            <a:ext cx="2743200" cy="64008"/>
          </a:xfrm>
          <a:prstGeom prst="rect">
            <a:avLst/>
          </a:prstGeom>
          <a:solidFill>
            <a:srgbClr val="7FA8C9"/>
          </a:solidFill>
          <a:ln w="12700">
            <a:solidFill>
              <a:srgbClr val="7FA8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44475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A8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12064" y="195681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TRANSMISSION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2064" y="2377440"/>
            <a:ext cx="2423160" cy="0"/>
          </a:xfrm>
          <a:prstGeom prst="line">
            <a:avLst/>
          </a:prstGeom>
          <a:noFill/>
          <a:ln w="9525">
            <a:solidFill>
              <a:srgbClr val="7FA8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2487168"/>
            <a:ext cx="2423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drone-to-drone data links over raw IEEE 802.11 frames.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Nanosecond-accurate timestamp exchange enables TDOA math.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7832" y="1325880"/>
            <a:ext cx="2743200" cy="3429000"/>
          </a:xfrm>
          <a:prstGeom prst="rect">
            <a:avLst/>
          </a:prstGeom>
          <a:solidFill>
            <a:srgbClr val="0E2040"/>
          </a:solidFill>
          <a:ln w="1905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325880"/>
            <a:ext cx="274320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92424" y="144475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92424" y="195681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92424" y="2377440"/>
            <a:ext cx="2423160" cy="0"/>
          </a:xfrm>
          <a:prstGeom prst="line">
            <a:avLst/>
          </a:prstGeom>
          <a:noFill/>
          <a:ln w="9525">
            <a:solidFill>
              <a:srgbClr val="00E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92424" y="2487168"/>
            <a:ext cx="2423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Multi-drone self-organizing topology with self-healing routing.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 detections from 3+ nodes gate the triangulation pipeline.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08192" y="1325880"/>
            <a:ext cx="2743200" cy="3429000"/>
          </a:xfrm>
          <a:prstGeom prst="rect">
            <a:avLst/>
          </a:prstGeom>
          <a:solidFill>
            <a:srgbClr val="0E2040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08192" y="1325880"/>
            <a:ext cx="27432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144475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272784" y="195681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72784" y="2377440"/>
            <a:ext cx="2423160" cy="0"/>
          </a:xfrm>
          <a:prstGeom prst="line">
            <a:avLst/>
          </a:prstGeom>
          <a:noFill/>
          <a:ln w="9525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2784" y="2487168"/>
            <a:ext cx="2423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threat classification (gunshots, missiles, drones, tanks) combined with TDOA localization and Monte Carlo confidence zones.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builds on the one below — from raw radio frames to actionable battlefield intelligence.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" y="1234440"/>
            <a:ext cx="1444752" cy="1508760"/>
          </a:xfrm>
          <a:prstGeom prst="rect">
            <a:avLst/>
          </a:prstGeom>
          <a:solidFill>
            <a:srgbClr val="0E2040"/>
          </a:solidFill>
          <a:ln w="1905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4320" y="1234440"/>
            <a:ext cx="1444752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362456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Sensors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" y="192024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UAVs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arrays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64792" y="1988820"/>
            <a:ext cx="182880" cy="0"/>
          </a:xfrm>
          <a:prstGeom prst="line">
            <a:avLst/>
          </a:prstGeom>
          <a:noFill/>
          <a:ln w="19050">
            <a:solidFill>
              <a:srgbClr val="1A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93392" y="1234440"/>
            <a:ext cx="1444752" cy="1508760"/>
          </a:xfrm>
          <a:prstGeom prst="rect">
            <a:avLst/>
          </a:prstGeom>
          <a:solidFill>
            <a:srgbClr val="0E2040"/>
          </a:solidFill>
          <a:ln w="19050">
            <a:solidFill>
              <a:srgbClr val="7FA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993392" y="1234440"/>
            <a:ext cx="1444752" cy="54864"/>
          </a:xfrm>
          <a:prstGeom prst="rect">
            <a:avLst/>
          </a:prstGeom>
          <a:solidFill>
            <a:srgbClr val="7FA8C9"/>
          </a:solidFill>
          <a:ln w="12700">
            <a:solidFill>
              <a:srgbClr val="7FA8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66544" y="1362456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Detection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66544" y="192024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22kHz classifier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83864" y="1988820"/>
            <a:ext cx="182880" cy="0"/>
          </a:xfrm>
          <a:prstGeom prst="line">
            <a:avLst/>
          </a:prstGeom>
          <a:noFill/>
          <a:ln w="19050">
            <a:solidFill>
              <a:srgbClr val="1A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12464" y="1234440"/>
            <a:ext cx="1444752" cy="1508760"/>
          </a:xfrm>
          <a:prstGeom prst="rect">
            <a:avLst/>
          </a:prstGeom>
          <a:solidFill>
            <a:srgbClr val="0E2040"/>
          </a:solidFill>
          <a:ln w="19050">
            <a:solidFill>
              <a:srgbClr val="7FA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12464" y="1234440"/>
            <a:ext cx="1444752" cy="54864"/>
          </a:xfrm>
          <a:prstGeom prst="rect">
            <a:avLst/>
          </a:prstGeom>
          <a:solidFill>
            <a:srgbClr val="7FA8C9"/>
          </a:solidFill>
          <a:ln w="12700">
            <a:solidFill>
              <a:srgbClr val="7FA8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85616" y="1362456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Exchange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85616" y="192024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events.json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per-drone timestamps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02936" y="1988820"/>
            <a:ext cx="182880" cy="0"/>
          </a:xfrm>
          <a:prstGeom prst="line">
            <a:avLst/>
          </a:prstGeom>
          <a:noFill/>
          <a:ln w="19050">
            <a:solidFill>
              <a:srgbClr val="1A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31536" y="1234440"/>
            <a:ext cx="1444752" cy="1508760"/>
          </a:xfrm>
          <a:prstGeom prst="rect">
            <a:avLst/>
          </a:prstGeom>
          <a:solidFill>
            <a:srgbClr val="0E2040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31536" y="1234440"/>
            <a:ext cx="1444752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04688" y="1362456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TDOA Solver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04688" y="192024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Levenberg-Marquardt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22008" y="1988820"/>
            <a:ext cx="182880" cy="0"/>
          </a:xfrm>
          <a:prstGeom prst="line">
            <a:avLst/>
          </a:prstGeom>
          <a:noFill/>
          <a:ln w="19050">
            <a:solidFill>
              <a:srgbClr val="1A3A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50608" y="1234440"/>
            <a:ext cx="1444752" cy="1508760"/>
          </a:xfrm>
          <a:prstGeom prst="rect">
            <a:avLst/>
          </a:prstGeom>
          <a:solidFill>
            <a:srgbClr val="0E2040"/>
          </a:solidFill>
          <a:ln w="1905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50608" y="1234440"/>
            <a:ext cx="1444752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1362456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UI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23760" y="192024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map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CEP95 confidence zone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29443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Decisions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7200" y="3401568"/>
            <a:ext cx="2743200" cy="1536192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401568"/>
            <a:ext cx="54864" cy="153619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4747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Nanosecond timestamp precision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38404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min timestamp as integer before float conversion — avoids float64 precision loss at ~1.78×10¹⁸ ns.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37560" y="3401568"/>
            <a:ext cx="2743200" cy="1536192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37560" y="3401568"/>
            <a:ext cx="54864" cy="153619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0440" y="34747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Grid-then-polish TDOA solver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20440" y="38404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120×120 global search prevents hyperbola branch ambiguity, then LM refines to sub-metre accuracy.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7920" y="3401568"/>
            <a:ext cx="2743200" cy="1536192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3401568"/>
            <a:ext cx="54864" cy="153619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34747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Per-drone error propagation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0" y="384048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drone's clock σ (ns) and position σ (m) feed Monte Carlo separately, scaling with sensor quality.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Application: Acoustic Threat Detection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drone continuously classifies audio for battlefield-relevant events — 0.5 s windows, 22 kHz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298448"/>
            <a:ext cx="3977640" cy="1691640"/>
          </a:xfrm>
          <a:prstGeom prst="rect">
            <a:avLst/>
          </a:prstGeom>
          <a:solidFill>
            <a:srgbClr val="0E2040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98448"/>
            <a:ext cx="54864" cy="16916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898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GUNSHOT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55648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Crest factor &gt; 8×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29968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Sub-100 ms impulse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304288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Spectral peak 1–8 kHz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578608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Backfire suppression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98448"/>
            <a:ext cx="3977640" cy="1691640"/>
          </a:xfrm>
          <a:prstGeom prst="rect">
            <a:avLst/>
          </a:prstGeom>
          <a:solidFill>
            <a:srgbClr val="0E2040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98448"/>
            <a:ext cx="54864" cy="1691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3898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MISSILE LAUNCH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755648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Sustained energy burst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2029968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Low-freq rumble &lt; 500 Hz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304288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Duration 0.5–3 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578608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Rising spectral envelope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154680"/>
            <a:ext cx="3977640" cy="1691640"/>
          </a:xfrm>
          <a:prstGeom prst="rect">
            <a:avLst/>
          </a:prstGeom>
          <a:solidFill>
            <a:srgbClr val="0E2040"/>
          </a:solidFill>
          <a:ln w="12700">
            <a:solidFill>
              <a:srgbClr val="7FA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154680"/>
            <a:ext cx="54864" cy="1691640"/>
          </a:xfrm>
          <a:prstGeom prst="rect">
            <a:avLst/>
          </a:prstGeom>
          <a:solidFill>
            <a:srgbClr val="7FA8C9"/>
          </a:solidFill>
          <a:ln w="12700">
            <a:solidFill>
              <a:srgbClr val="7FA8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2461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7FA8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ENEMY DRONE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361188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Rotor harmonic detection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388620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Blade-pass frequency ISO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16052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Own-rotor notch filter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43484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Spectral subtraction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154680"/>
            <a:ext cx="3977640" cy="1691640"/>
          </a:xfrm>
          <a:prstGeom prst="rect">
            <a:avLst/>
          </a:prstGeom>
          <a:solidFill>
            <a:srgbClr val="0E2040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154680"/>
            <a:ext cx="54864" cy="169164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2461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TANK / VEHICLE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46320" y="361188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Engine harmonic matching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88620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Heavy low-end energy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416052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Ground vibration profile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443484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Long duration filter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809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heuristics filter false positives: bird calls vs. gunshots, own rotors vs. enemy UAVs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Application: TDOA Source Localization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drones detect the same event. Time-difference-of-arrival reveals where the sound came from.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719072"/>
            <a:ext cx="384048" cy="38404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F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9264" y="171907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grid search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9264" y="208483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120×120 global grid minimises TDOA residuals. Prevents hyperbola branch ambiguity — a classic TDOA failure mode.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98064"/>
            <a:ext cx="384048" cy="38404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F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9264" y="279806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Levenberg-Marquardt polish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9264" y="3163824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least-squares refinement from coarse seed. Converges to sub-metre accuracy in contested geometry.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77056"/>
            <a:ext cx="384048" cy="384048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877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F1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9264" y="387705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uncertainty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9264" y="424281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samples perturbing drone timestamps (±σ ns) and positions (±σ m). Outputs CEP50, CEP95, GDOP.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2618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Metrics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754880" y="1719072"/>
            <a:ext cx="3931920" cy="685800"/>
          </a:xfrm>
          <a:prstGeom prst="rect">
            <a:avLst/>
          </a:prstGeom>
          <a:solidFill>
            <a:srgbClr val="0E2040"/>
          </a:solidFill>
          <a:ln w="127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179222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CEP50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989320" y="186537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50th-percentile radius — half of solutions inside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523744"/>
            <a:ext cx="3931920" cy="685800"/>
          </a:xfrm>
          <a:prstGeom prst="rect">
            <a:avLst/>
          </a:prstGeom>
          <a:solidFill>
            <a:srgbClr val="0E2040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259689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CEP95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989320" y="267004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95th-percentile radius — military accuracy standard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328416"/>
            <a:ext cx="3931920" cy="685800"/>
          </a:xfrm>
          <a:prstGeom prst="rect">
            <a:avLst/>
          </a:prstGeom>
          <a:solidFill>
            <a:srgbClr val="0E2040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92040" y="340156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GDOP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989320" y="34747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Dilution of Precision — mesh geometry quality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4133088"/>
            <a:ext cx="3931920" cy="685800"/>
          </a:xfrm>
          <a:prstGeom prst="rect">
            <a:avLst/>
          </a:prstGeom>
          <a:solidFill>
            <a:srgbClr val="0E2040"/>
          </a:solidFill>
          <a:ln w="12700">
            <a:solidFill>
              <a:srgbClr val="7FA8C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92040" y="4206240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FA8C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WGS84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5989320" y="427939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in lat/lon + local metric plane (equirectangular)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Mesh Layer: Multi-Drone Coordination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Resilient, self-organizing topology — no base station required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847088" y="1389888"/>
            <a:ext cx="-914400" cy="2194560"/>
          </a:xfrm>
          <a:prstGeom prst="line">
            <a:avLst/>
          </a:prstGeom>
          <a:noFill/>
          <a:ln w="19050">
            <a:solidFill>
              <a:srgbClr val="00E5A0"/>
            </a:solidFill>
            <a:prstDash val="sysDash"/>
          </a:ln>
        </p:spPr>
      </p:sp>
      <p:sp>
        <p:nvSpPr>
          <p:cNvPr id="5" name="Shape 3"/>
          <p:cNvSpPr/>
          <p:nvPr/>
        </p:nvSpPr>
        <p:spPr>
          <a:xfrm>
            <a:off x="932688" y="3584448"/>
            <a:ext cx="2286000" cy="0"/>
          </a:xfrm>
          <a:prstGeom prst="line">
            <a:avLst/>
          </a:prstGeom>
          <a:noFill/>
          <a:ln w="19050">
            <a:solidFill>
              <a:srgbClr val="00E5A0"/>
            </a:solidFill>
            <a:prstDash val="sysDash"/>
          </a:ln>
        </p:spPr>
      </p:sp>
      <p:sp>
        <p:nvSpPr>
          <p:cNvPr id="6" name="Shape 4"/>
          <p:cNvSpPr/>
          <p:nvPr/>
        </p:nvSpPr>
        <p:spPr>
          <a:xfrm>
            <a:off x="1847088" y="1389888"/>
            <a:ext cx="1371600" cy="2194560"/>
          </a:xfrm>
          <a:prstGeom prst="line">
            <a:avLst/>
          </a:prstGeom>
          <a:noFill/>
          <a:ln w="19050">
            <a:solidFill>
              <a:srgbClr val="00E5A0"/>
            </a:solidFill>
            <a:prstDash val="sysDash"/>
          </a:ln>
        </p:spPr>
      </p:sp>
      <p:sp>
        <p:nvSpPr>
          <p:cNvPr id="7" name="Shape 5"/>
          <p:cNvSpPr/>
          <p:nvPr/>
        </p:nvSpPr>
        <p:spPr>
          <a:xfrm>
            <a:off x="1645920" y="1188720"/>
            <a:ext cx="402336" cy="40233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1188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627632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402336" cy="40233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83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822192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17520" y="3383280"/>
            <a:ext cx="402336" cy="402336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17520" y="3383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0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3822192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508760" y="2487168"/>
            <a:ext cx="493776" cy="402336"/>
          </a:xfrm>
          <a:prstGeom prst="rect">
            <a:avLst/>
          </a:prstGeom>
          <a:solidFill>
            <a:srgbClr val="0E2040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8760" y="2487168"/>
            <a:ext cx="493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HQ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55648" y="2688336"/>
            <a:ext cx="91440" cy="-1298448"/>
          </a:xfrm>
          <a:prstGeom prst="line">
            <a:avLst/>
          </a:prstGeom>
          <a:noFill/>
          <a:ln w="9525">
            <a:solidFill>
              <a:srgbClr val="FF6B35"/>
            </a:solidFill>
            <a:prstDash val="dot"/>
          </a:ln>
        </p:spPr>
      </p:sp>
      <p:sp>
        <p:nvSpPr>
          <p:cNvPr id="19" name="Shape 17"/>
          <p:cNvSpPr/>
          <p:nvPr/>
        </p:nvSpPr>
        <p:spPr>
          <a:xfrm>
            <a:off x="1755648" y="2688336"/>
            <a:ext cx="-822960" cy="896112"/>
          </a:xfrm>
          <a:prstGeom prst="line">
            <a:avLst/>
          </a:prstGeom>
          <a:noFill/>
          <a:ln w="9525">
            <a:solidFill>
              <a:srgbClr val="FF6B35"/>
            </a:solidFill>
            <a:prstDash val="dot"/>
          </a:ln>
        </p:spPr>
      </p:sp>
      <p:sp>
        <p:nvSpPr>
          <p:cNvPr id="20" name="Shape 18"/>
          <p:cNvSpPr/>
          <p:nvPr/>
        </p:nvSpPr>
        <p:spPr>
          <a:xfrm>
            <a:off x="1755648" y="2688336"/>
            <a:ext cx="1463040" cy="896112"/>
          </a:xfrm>
          <a:prstGeom prst="line">
            <a:avLst/>
          </a:prstGeom>
          <a:noFill/>
          <a:ln w="9525">
            <a:solidFill>
              <a:srgbClr val="FF6B35"/>
            </a:solidFill>
            <a:prstDash val="dot"/>
          </a:ln>
        </p:spPr>
      </p:sp>
      <p:sp>
        <p:nvSpPr>
          <p:cNvPr id="21" name="Text 19"/>
          <p:cNvSpPr/>
          <p:nvPr/>
        </p:nvSpPr>
        <p:spPr>
          <a:xfrm>
            <a:off x="457200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572000" y="1389888"/>
            <a:ext cx="4114800" cy="768096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1389888"/>
            <a:ext cx="54864" cy="76809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4538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802.11 packet injection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17556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frames bypass infrastructure. Works without base stations or internet in fully contested environments.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2286000"/>
            <a:ext cx="4114800" cy="768096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2286000"/>
            <a:ext cx="54864" cy="76809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3500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Nanosecond event timestamps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09160" y="2651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detection tagged with ns-precision timestamp; integer precision preserved for TDOA accuracy.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3182112"/>
            <a:ext cx="4114800" cy="768096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3182112"/>
            <a:ext cx="54864" cy="76809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 node synchronization gate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09160" y="35478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validates and rejects event groups with fewer than 3 synchronized detections — no false localizations.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0" y="4078224"/>
            <a:ext cx="4114800" cy="768096"/>
          </a:xfrm>
          <a:prstGeom prst="rect">
            <a:avLst/>
          </a:prstGeom>
          <a:solidFill>
            <a:srgbClr val="0E204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0" y="4078224"/>
            <a:ext cx="54864" cy="76809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4142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topology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09160" y="44439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re-routes around jammed or lost nodes. Partial coverage degrades gracefully rather than failing hard.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Tactical Command Interface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situational awareness, streamed via WebSocket at 30 Hz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Drone swarm positions — live telemetry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196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Detected targets: type, confidence, bearing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221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TDOA-localized source coordinates (WGS84)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6243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CEP95 confidence ellipse overlay on map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02666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Threat alert log with timestamps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Mesh health and node status panel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804672"/>
            <a:ext cx="4480560" cy="4133088"/>
          </a:xfrm>
          <a:prstGeom prst="rect">
            <a:avLst/>
          </a:prstGeom>
          <a:solidFill>
            <a:srgbClr val="020A14"/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804672"/>
            <a:ext cx="4480560" cy="347472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8503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ECHOMESH  //  TACTICAL OPERATIONS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047488" y="1243584"/>
            <a:ext cx="3246120" cy="2633472"/>
          </a:xfrm>
          <a:prstGeom prst="rect">
            <a:avLst/>
          </a:prstGeom>
          <a:solidFill>
            <a:srgbClr val="030D1A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47488" y="1700784"/>
            <a:ext cx="3246120" cy="0"/>
          </a:xfrm>
          <a:prstGeom prst="line">
            <a:avLst/>
          </a:prstGeom>
          <a:noFill/>
          <a:ln w="3810">
            <a:solidFill>
              <a:srgbClr val="1A3A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47488" y="2139696"/>
            <a:ext cx="3246120" cy="0"/>
          </a:xfrm>
          <a:prstGeom prst="line">
            <a:avLst/>
          </a:prstGeom>
          <a:noFill/>
          <a:ln w="3810">
            <a:solidFill>
              <a:srgbClr val="1A3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47488" y="2578608"/>
            <a:ext cx="3246120" cy="0"/>
          </a:xfrm>
          <a:prstGeom prst="line">
            <a:avLst/>
          </a:prstGeom>
          <a:noFill/>
          <a:ln w="3810">
            <a:solidFill>
              <a:srgbClr val="1A3A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47488" y="3017520"/>
            <a:ext cx="3246120" cy="0"/>
          </a:xfrm>
          <a:prstGeom prst="line">
            <a:avLst/>
          </a:prstGeom>
          <a:noFill/>
          <a:ln w="3810">
            <a:solidFill>
              <a:srgbClr val="1A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47488" y="3456432"/>
            <a:ext cx="3246120" cy="0"/>
          </a:xfrm>
          <a:prstGeom prst="line">
            <a:avLst/>
          </a:prstGeom>
          <a:noFill/>
          <a:ln w="3810">
            <a:solidFill>
              <a:srgbClr val="1A3A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47488" y="1243584"/>
            <a:ext cx="0" cy="2633472"/>
          </a:xfrm>
          <a:prstGeom prst="line">
            <a:avLst/>
          </a:prstGeom>
          <a:noFill/>
          <a:ln w="3810">
            <a:solidFill>
              <a:srgbClr val="1A3A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22976" y="1243584"/>
            <a:ext cx="0" cy="2633472"/>
          </a:xfrm>
          <a:prstGeom prst="line">
            <a:avLst/>
          </a:prstGeom>
          <a:noFill/>
          <a:ln w="3810">
            <a:solidFill>
              <a:srgbClr val="1A3A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98464" y="1243584"/>
            <a:ext cx="0" cy="2633472"/>
          </a:xfrm>
          <a:prstGeom prst="line">
            <a:avLst/>
          </a:prstGeom>
          <a:noFill/>
          <a:ln w="3810">
            <a:solidFill>
              <a:srgbClr val="1A3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3952" y="1243584"/>
            <a:ext cx="0" cy="2633472"/>
          </a:xfrm>
          <a:prstGeom prst="line">
            <a:avLst/>
          </a:prstGeom>
          <a:noFill/>
          <a:ln w="3810">
            <a:solidFill>
              <a:srgbClr val="1A3A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1243584"/>
            <a:ext cx="0" cy="2633472"/>
          </a:xfrm>
          <a:prstGeom prst="line">
            <a:avLst/>
          </a:prstGeom>
          <a:noFill/>
          <a:ln w="3810">
            <a:solidFill>
              <a:srgbClr val="1A3A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24928" y="1243584"/>
            <a:ext cx="0" cy="2633472"/>
          </a:xfrm>
          <a:prstGeom prst="line">
            <a:avLst/>
          </a:prstGeom>
          <a:noFill/>
          <a:ln w="3810">
            <a:solidFill>
              <a:srgbClr val="1A3A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58968" y="1709928"/>
            <a:ext cx="237744" cy="237744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59168" y="1362456"/>
            <a:ext cx="237744" cy="237744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64808" y="3401568"/>
            <a:ext cx="237744" cy="237744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89320" y="1920240"/>
            <a:ext cx="868680" cy="594360"/>
          </a:xfrm>
          <a:prstGeom prst="ellipse">
            <a:avLst/>
          </a:prstGeom>
          <a:solidFill>
            <a:srgbClr val="FF6B35">
              <a:alpha val="20000"/>
            </a:srgbClr>
          </a:solidFill>
          <a:ln w="9525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2084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480560" y="1243584"/>
            <a:ext cx="530352" cy="2633472"/>
          </a:xfrm>
          <a:prstGeom prst="rect">
            <a:avLst/>
          </a:prstGeom>
          <a:solidFill>
            <a:srgbClr val="020A1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17136" y="12984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spc="1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TGTS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4535424" y="1572768"/>
            <a:ext cx="420624" cy="329184"/>
          </a:xfrm>
          <a:prstGeom prst="rect">
            <a:avLst/>
          </a:prstGeom>
          <a:solidFill>
            <a:srgbClr val="14295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35424" y="160020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35424" y="2048256"/>
            <a:ext cx="420624" cy="329184"/>
          </a:xfrm>
          <a:prstGeom prst="rect">
            <a:avLst/>
          </a:prstGeom>
          <a:solidFill>
            <a:srgbClr val="142952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35424" y="207568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35424" y="2523744"/>
            <a:ext cx="420624" cy="329184"/>
          </a:xfrm>
          <a:prstGeom prst="rect">
            <a:avLst/>
          </a:prstGeom>
          <a:solidFill>
            <a:srgbClr val="142952"/>
          </a:solidFill>
          <a:ln w="12700">
            <a:solidFill>
              <a:srgbClr val="7FA8C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35424" y="2551176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TNK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430768" y="1243584"/>
            <a:ext cx="530352" cy="2633472"/>
          </a:xfrm>
          <a:prstGeom prst="rect">
            <a:avLst/>
          </a:prstGeom>
          <a:solidFill>
            <a:srgbClr val="020A14"/>
          </a:solidFill>
          <a:ln w="6350">
            <a:solidFill>
              <a:srgbClr val="1A3A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67344" y="12984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ALRT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8467344" y="1572768"/>
            <a:ext cx="420624" cy="329184"/>
          </a:xfrm>
          <a:prstGeom prst="rect">
            <a:avLst/>
          </a:prstGeom>
          <a:solidFill>
            <a:srgbClr val="14295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67344" y="160020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467344" y="2048256"/>
            <a:ext cx="420624" cy="329184"/>
          </a:xfrm>
          <a:prstGeom prst="rect">
            <a:avLst/>
          </a:prstGeom>
          <a:solidFill>
            <a:srgbClr val="142952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67344" y="2075688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467344" y="2523744"/>
            <a:ext cx="420624" cy="329184"/>
          </a:xfrm>
          <a:prstGeom prst="rect">
            <a:avLst/>
          </a:prstGeom>
          <a:solidFill>
            <a:srgbClr val="142952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67344" y="2551176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480560" y="3931920"/>
            <a:ext cx="4480560" cy="347472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3977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DRONES: 3/3 ONLINE   ●   THREATS: 2   ●   MESH: HEALTHY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&amp; Capabilities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24128"/>
            <a:ext cx="2651760" cy="1691640"/>
          </a:xfrm>
          <a:prstGeom prst="rect">
            <a:avLst/>
          </a:prstGeom>
          <a:solidFill>
            <a:srgbClr val="0E2040"/>
          </a:solidFill>
          <a:ln w="254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60704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Classes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2677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Gunshot · Missile · Drone · Tank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1024128"/>
            <a:ext cx="2651760" cy="1691640"/>
          </a:xfrm>
          <a:prstGeom prst="rect">
            <a:avLst/>
          </a:prstGeom>
          <a:solidFill>
            <a:srgbClr val="0E2040"/>
          </a:solidFill>
          <a:ln w="25400">
            <a:solidFill>
              <a:srgbClr val="00E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060704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3+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3337560" y="19202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Mesh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29000" y="22677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nodes for TDOA triangulation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024128"/>
            <a:ext cx="2651760" cy="1691640"/>
          </a:xfrm>
          <a:prstGeom prst="rect">
            <a:avLst/>
          </a:prstGeom>
          <a:solidFill>
            <a:srgbClr val="0E2040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060704"/>
            <a:ext cx="2651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400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6217920" y="19202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Samples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226771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Per-event uncertainty propagation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907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Delivers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3364992"/>
            <a:ext cx="274320" cy="27432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3101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Sub-metre localization accuracy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7824" y="3657600"/>
            <a:ext cx="7818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+ LM solver converges to &lt;1 m with good drone geometry (low GDOP); degrades gracefully at high GDOP.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50208"/>
            <a:ext cx="274320" cy="27432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38953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Military-standard confidence reporting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7824" y="4242816"/>
            <a:ext cx="7818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CEP50 and CEP95 radii, 95% confidence ellipse fitted via χ² quantile — directly compatible with C2 integration.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535424"/>
            <a:ext cx="274320" cy="274320"/>
          </a:xfrm>
          <a:prstGeom prst="ellipse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44805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false-positive suppression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7824" y="4828032"/>
            <a:ext cx="7818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heuristics separate real threats from bird calls, wind noise, and own-rotor signatures before any alert fires.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"/>
            <a:ext cx="9144000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98848"/>
            <a:ext cx="9144000" cy="0"/>
          </a:xfrm>
          <a:prstGeom prst="line">
            <a:avLst/>
          </a:prstGeom>
          <a:noFill/>
          <a:ln w="635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97280"/>
            <a:ext cx="64008" cy="246888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972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EchoMesh?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178308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E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intelligence is the missing layer in autonomous drone warfare.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34086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Cameras go blind in smoke, darkness, and clutter — acoustic sensors don't.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TDOA localization works without GPS, critical in GPS-denied environments.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32841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More drones = better geometry = higher accuracy. The mesh is the sensor.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82219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Open architecture: swap any classifier, any output format, any C2 interface.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E2040"/>
          </a:solidFill>
          <a:ln w="12700">
            <a:solidFill>
              <a:srgbClr val="0E2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73659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at Junction DefenceHack  ·  Kova Labs Challenge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736592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400" kern="0" dirty="0">
                <a:solidFill>
                  <a:srgbClr val="00E5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ECHOMESH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EchoMesh – Tactical Acoustic Intelligence</dc:title>
  <dc:subject>PptxGenJS Presentation</dc:subject>
  <dc:creator>PptxGenJS</dc:creator>
  <cp:lastModifiedBy>PptxGenJS</cp:lastModifiedBy>
  <cp:revision>1</cp:revision>
  <dcterms:created xsi:type="dcterms:W3CDTF">2026-05-16T15:52:05Z</dcterms:created>
  <dcterms:modified xsi:type="dcterms:W3CDTF">2026-05-16T15:52:05Z</dcterms:modified>
</cp:coreProperties>
</file>